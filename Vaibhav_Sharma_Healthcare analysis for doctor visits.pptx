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4"/>
  </p:notesMasterIdLst>
  <p:handoutMasterIdLst>
    <p:handoutMasterId r:id="rId15"/>
  </p:handoutMasterIdLst>
  <p:sldIdLst>
    <p:sldId id="338" r:id="rId5"/>
    <p:sldId id="327" r:id="rId6"/>
    <p:sldId id="315" r:id="rId7"/>
    <p:sldId id="329" r:id="rId8"/>
    <p:sldId id="302" r:id="rId9"/>
    <p:sldId id="339" r:id="rId10"/>
    <p:sldId id="341" r:id="rId11"/>
    <p:sldId id="340" r:id="rId12"/>
    <p:sldId id="30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6" d="100"/>
          <a:sy n="86" d="100"/>
        </p:scale>
        <p:origin x="422" y="58"/>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9/23/2026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9/23/2026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9/23/2026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9/23/2026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9/23/2026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201737A-B873-4D1D-8A41-5ABF5184BC8F}"/>
              </a:ext>
            </a:extLst>
          </p:cNvPr>
          <p:cNvSpPr>
            <a:spLocks noGrp="1"/>
          </p:cNvSpPr>
          <p:nvPr>
            <p:ph type="body" sz="quarter" idx="11"/>
          </p:nvPr>
        </p:nvSpPr>
        <p:spPr>
          <a:xfrm>
            <a:off x="2789886" y="3655498"/>
            <a:ext cx="4427660" cy="861497"/>
          </a:xfrm>
        </p:spPr>
        <p:txBody>
          <a:bodyPr/>
          <a:lstStyle/>
          <a:p>
            <a:pPr algn="r"/>
            <a:r>
              <a:rPr lang="en-US" b="0" dirty="0" smtClean="0">
                <a:solidFill>
                  <a:schemeClr val="tx1"/>
                </a:solidFill>
              </a:rPr>
              <a:t>Student name- Vaibhav Sharma</a:t>
            </a:r>
          </a:p>
          <a:p>
            <a:pPr algn="r"/>
            <a:r>
              <a:rPr lang="en-IN" b="0" dirty="0">
                <a:solidFill>
                  <a:schemeClr val="tx1"/>
                </a:solidFill>
              </a:rPr>
              <a:t>STU6a66c7a4c9dcd1785120676</a:t>
            </a:r>
            <a:endParaRPr lang="en-IN" b="0" dirty="0">
              <a:solidFill>
                <a:schemeClr val="tx1"/>
              </a:solidFill>
            </a:endParaRPr>
          </a:p>
        </p:txBody>
      </p:sp>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2951529" y="2783577"/>
            <a:ext cx="8672300" cy="743448"/>
          </a:xfrm>
        </p:spPr>
        <p:txBody>
          <a:bodyPr>
            <a:normAutofit fontScale="90000"/>
          </a:bodyPr>
          <a:lstStyle/>
          <a:p>
            <a:r>
              <a:rPr lang="en-GB" sz="3200" dirty="0" smtClean="0"/>
              <a:t>Project Title </a:t>
            </a:r>
            <a:r>
              <a:rPr lang="en-GB" sz="3200" dirty="0" smtClean="0"/>
              <a:t>-</a:t>
            </a:r>
            <a:r>
              <a:rPr lang="en-US" sz="3200" dirty="0"/>
              <a:t>Healthcare Analytics for Doctor Visits</a:t>
            </a:r>
            <a:br>
              <a:rPr lang="en-US" sz="3200" dirty="0"/>
            </a:br>
            <a:endParaRPr lang="en-IN" sz="3200" dirty="0"/>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1046480" y="1875556"/>
            <a:ext cx="6431280" cy="3607987"/>
          </a:xfrm>
        </p:spPr>
        <p:txBody>
          <a:bodyPr>
            <a:normAutofit fontScale="77500" lnSpcReduction="20000"/>
          </a:bodyPr>
          <a:lstStyle/>
          <a:p>
            <a:pPr marL="0" indent="0">
              <a:lnSpc>
                <a:spcPct val="150000"/>
              </a:lnSpc>
              <a:buNone/>
            </a:pPr>
            <a:r>
              <a:rPr lang="en-US" sz="2800" dirty="0" smtClean="0"/>
              <a:t>Project </a:t>
            </a:r>
            <a:r>
              <a:rPr lang="en-US" sz="2800" dirty="0"/>
              <a:t>uses Python, Pandas, and data visualization to analyze doctor visit patterns. It explores how illness, health status, age groups, and chronic conditions are associated with healthcare utilization. The insights help hospital management understand patient needs and identify opportunities to improve healthcare services.</a:t>
            </a:r>
            <a:endParaRPr lang="en-IN" sz="2800" dirty="0"/>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467359" y="1231341"/>
            <a:ext cx="11013737" cy="830997"/>
          </a:xfrm>
        </p:spPr>
        <p:txBody>
          <a:bodyPr>
            <a:normAutofit fontScale="90000"/>
          </a:bodyPr>
          <a:lstStyle/>
          <a:p>
            <a:r>
              <a:rPr lang="en-GB" dirty="0" smtClean="0"/>
              <a:t>Project Description</a:t>
            </a:r>
            <a:br>
              <a:rPr lang="en-GB" dirty="0" smtClean="0"/>
            </a:br>
            <a:r>
              <a:rPr lang="en-US" sz="3100" b="0" dirty="0"/>
              <a:t>This project uses Python, Pandas, and data visualization techniques to analyze doctor visit patterns in a healthcare dataset. The analysis explores how demographic, socioeconomic, and health-related factors such as age, gender, illness, reduced activity, and health status are associated with doctor visits. The project applies exploratory and multivariate analysis to identify meaningful patterns and relationships in healthcare utilization. The findings provide a descriptive understanding of factors associated with doctor visits while recognizing that the observed relationships do not establish causation.</a:t>
            </a:r>
            <a:r>
              <a:rPr lang="en-GB" sz="3100" dirty="0"/>
              <a:t/>
            </a:r>
            <a:br>
              <a:rPr lang="en-GB" sz="3100" dirty="0"/>
            </a:br>
            <a:endParaRPr lang="en-IN" dirty="0"/>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p:cNvSpPr>
            <a:spLocks noGrp="1" noChangeArrowheads="1"/>
          </p:cNvSpPr>
          <p:nvPr>
            <p:ph type="body" sz="quarter" idx="12"/>
          </p:nvPr>
        </p:nvSpPr>
        <p:spPr bwMode="auto">
          <a:xfrm>
            <a:off x="359915" y="1800488"/>
            <a:ext cx="10161756"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smtClean="0">
                <a:ln>
                  <a:noFill/>
                </a:ln>
                <a:solidFill>
                  <a:schemeClr val="tx1"/>
                </a:solidFill>
                <a:effectLst/>
                <a:latin typeface="Arial" panose="020B0604020202020204" pitchFamily="34" charset="0"/>
              </a:rPr>
              <a:t>Hospital Management</a:t>
            </a:r>
            <a:r>
              <a:rPr kumimoji="0" lang="en-US" altLang="en-US" sz="1800" b="0" i="0" u="none" strike="noStrike" cap="none" normalizeH="0" baseline="0" dirty="0" smtClean="0">
                <a:ln>
                  <a:noFill/>
                </a:ln>
                <a:solidFill>
                  <a:schemeClr val="tx1"/>
                </a:solidFill>
                <a:effectLst/>
                <a:latin typeface="Arial" panose="020B0604020202020204" pitchFamily="34" charset="0"/>
              </a:rPr>
              <a:t> – to understand doctor-visit patterns and patient healthcare utilization. </a:t>
            </a: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smtClean="0">
                <a:ln>
                  <a:noFill/>
                </a:ln>
                <a:solidFill>
                  <a:schemeClr val="tx1"/>
                </a:solidFill>
                <a:effectLst/>
                <a:latin typeface="Arial" panose="020B0604020202020204" pitchFamily="34" charset="0"/>
              </a:rPr>
              <a:t>Healthcare Administrators</a:t>
            </a:r>
            <a:r>
              <a:rPr kumimoji="0" lang="en-US" altLang="en-US" sz="1800" b="0" i="0" u="none" strike="noStrike" cap="none" normalizeH="0" baseline="0" dirty="0" smtClean="0">
                <a:ln>
                  <a:noFill/>
                </a:ln>
                <a:solidFill>
                  <a:schemeClr val="tx1"/>
                </a:solidFill>
                <a:effectLst/>
                <a:latin typeface="Arial" panose="020B0604020202020204" pitchFamily="34" charset="0"/>
              </a:rPr>
              <a:t> – to support planning and resource allocation. </a:t>
            </a: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smtClean="0">
                <a:ln>
                  <a:noFill/>
                </a:ln>
                <a:solidFill>
                  <a:schemeClr val="tx1"/>
                </a:solidFill>
                <a:effectLst/>
                <a:latin typeface="Arial" panose="020B0604020202020204" pitchFamily="34" charset="0"/>
              </a:rPr>
              <a:t>Doctors &amp; Healthcare Providers</a:t>
            </a:r>
            <a:r>
              <a:rPr kumimoji="0" lang="en-US" altLang="en-US" sz="1800" b="0" i="0" u="none" strike="noStrike" cap="none" normalizeH="0" baseline="0" dirty="0" smtClean="0">
                <a:ln>
                  <a:noFill/>
                </a:ln>
                <a:solidFill>
                  <a:schemeClr val="tx1"/>
                </a:solidFill>
                <a:effectLst/>
                <a:latin typeface="Arial" panose="020B0604020202020204" pitchFamily="34" charset="0"/>
              </a:rPr>
              <a:t> – to understand patterns related to illness,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a:t>
            </a:r>
            <a:r>
              <a:rPr lang="en-US" altLang="en-US" sz="1800" dirty="0" smtClean="0">
                <a:solidFill>
                  <a:schemeClr val="tx1"/>
                </a:solidFill>
                <a:latin typeface="Arial" panose="020B0604020202020204" pitchFamily="34" charset="0"/>
              </a:rPr>
              <a:t>                                                               </a:t>
            </a:r>
            <a:r>
              <a:rPr kumimoji="0" lang="en-US" altLang="en-US" sz="1800" b="0" i="0" u="none" strike="noStrike" cap="none" normalizeH="0" baseline="0" dirty="0" smtClean="0">
                <a:ln>
                  <a:noFill/>
                </a:ln>
                <a:solidFill>
                  <a:schemeClr val="tx1"/>
                </a:solidFill>
                <a:effectLst/>
                <a:latin typeface="Arial" panose="020B0604020202020204" pitchFamily="34" charset="0"/>
              </a:rPr>
              <a:t>health status, and healthcare visits.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553867" y="244135"/>
            <a:ext cx="5306291" cy="847817"/>
          </a:xfrm>
        </p:spPr>
        <p:txBody>
          <a:bodyPr>
            <a:normAutofit/>
          </a:bodyPr>
          <a:lstStyle/>
          <a:p>
            <a:r>
              <a:rPr lang="en-US" dirty="0" smtClean="0"/>
              <a:t>Technology Used</a:t>
            </a:r>
            <a:endParaRPr lang="en-US" dirty="0"/>
          </a:p>
        </p:txBody>
      </p:sp>
      <p:sp>
        <p:nvSpPr>
          <p:cNvPr id="3" name="Rectangle 1"/>
          <p:cNvSpPr>
            <a:spLocks noGrp="1" noChangeArrowheads="1"/>
          </p:cNvSpPr>
          <p:nvPr>
            <p:ph type="body" sz="quarter" idx="12"/>
          </p:nvPr>
        </p:nvSpPr>
        <p:spPr bwMode="auto">
          <a:xfrm>
            <a:off x="553867" y="-494530"/>
            <a:ext cx="9028113" cy="5243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Python</a:t>
            </a:r>
            <a:r>
              <a:rPr kumimoji="0" lang="en-US" altLang="en-US" sz="1800" b="0" i="0" u="none" strike="noStrike" cap="none" normalizeH="0" baseline="0" dirty="0" smtClean="0">
                <a:ln>
                  <a:noFill/>
                </a:ln>
                <a:solidFill>
                  <a:schemeClr val="tx1"/>
                </a:solidFill>
                <a:effectLst/>
                <a:latin typeface="Arial" panose="020B0604020202020204" pitchFamily="34" charset="0"/>
              </a:rPr>
              <a:t> – Data analysis and processing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Pandas</a:t>
            </a:r>
            <a:r>
              <a:rPr kumimoji="0" lang="en-US" altLang="en-US" sz="1800" b="0" i="0" u="none" strike="noStrike" cap="none" normalizeH="0" baseline="0" dirty="0" smtClean="0">
                <a:ln>
                  <a:noFill/>
                </a:ln>
                <a:solidFill>
                  <a:schemeClr val="tx1"/>
                </a:solidFill>
                <a:effectLst/>
                <a:latin typeface="Arial" panose="020B0604020202020204" pitchFamily="34" charset="0"/>
              </a:rPr>
              <a:t> – Data loading, cleaning, grouping, and statistical analysis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smtClean="0">
                <a:ln>
                  <a:noFill/>
                </a:ln>
                <a:solidFill>
                  <a:schemeClr val="tx1"/>
                </a:solidFill>
                <a:effectLst/>
                <a:latin typeface="Arial" panose="020B0604020202020204" pitchFamily="34" charset="0"/>
              </a:rPr>
              <a:t>NumPy</a:t>
            </a:r>
            <a:r>
              <a:rPr kumimoji="0" lang="en-US" altLang="en-US" sz="1800" b="0" i="0" u="none" strike="noStrike" cap="none" normalizeH="0" baseline="0" dirty="0" smtClean="0">
                <a:ln>
                  <a:noFill/>
                </a:ln>
                <a:solidFill>
                  <a:schemeClr val="tx1"/>
                </a:solidFill>
                <a:effectLst/>
                <a:latin typeface="Arial" panose="020B0604020202020204" pitchFamily="34" charset="0"/>
              </a:rPr>
              <a:t> – Numerical operations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smtClean="0">
                <a:ln>
                  <a:noFill/>
                </a:ln>
                <a:solidFill>
                  <a:schemeClr val="tx1"/>
                </a:solidFill>
                <a:effectLst/>
                <a:latin typeface="Arial" panose="020B0604020202020204" pitchFamily="34" charset="0"/>
              </a:rPr>
              <a:t>Matplotlib</a:t>
            </a:r>
            <a:r>
              <a:rPr kumimoji="0" lang="en-US" altLang="en-US" sz="1800" b="0" i="0" u="none" strike="noStrike" cap="none" normalizeH="0" baseline="0" dirty="0" smtClean="0">
                <a:ln>
                  <a:noFill/>
                </a:ln>
                <a:solidFill>
                  <a:schemeClr val="tx1"/>
                </a:solidFill>
                <a:effectLst/>
                <a:latin typeface="Arial" panose="020B0604020202020204" pitchFamily="34" charset="0"/>
              </a:rPr>
              <a:t> – Data visualization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smtClean="0">
                <a:ln>
                  <a:noFill/>
                </a:ln>
                <a:solidFill>
                  <a:schemeClr val="tx1"/>
                </a:solidFill>
                <a:effectLst/>
                <a:latin typeface="Arial" panose="020B0604020202020204" pitchFamily="34" charset="0"/>
              </a:rPr>
              <a:t>Seaborn</a:t>
            </a:r>
            <a:r>
              <a:rPr kumimoji="0" lang="en-US" altLang="en-US" sz="1800" b="0" i="0" u="none" strike="noStrike" cap="none" normalizeH="0" baseline="0" dirty="0" smtClean="0">
                <a:ln>
                  <a:noFill/>
                </a:ln>
                <a:solidFill>
                  <a:schemeClr val="tx1"/>
                </a:solidFill>
                <a:effectLst/>
                <a:latin typeface="Arial" panose="020B0604020202020204" pitchFamily="34" charset="0"/>
              </a:rPr>
              <a:t> – Statistical charts and visualizations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smtClean="0">
                <a:ln>
                  <a:noFill/>
                </a:ln>
                <a:solidFill>
                  <a:schemeClr val="tx1"/>
                </a:solidFill>
                <a:effectLst/>
                <a:latin typeface="Arial" panose="020B0604020202020204" pitchFamily="34" charset="0"/>
              </a:rPr>
              <a:t>Jupyter</a:t>
            </a:r>
            <a:r>
              <a:rPr kumimoji="0" lang="en-US" altLang="en-US" sz="1800" b="1" i="0" u="none" strike="noStrike" cap="none" normalizeH="0" baseline="0" dirty="0" smtClean="0">
                <a:ln>
                  <a:noFill/>
                </a:ln>
                <a:solidFill>
                  <a:schemeClr val="tx1"/>
                </a:solidFill>
                <a:effectLst/>
                <a:latin typeface="Arial" panose="020B0604020202020204" pitchFamily="34" charset="0"/>
              </a:rPr>
              <a:t> Notebook</a:t>
            </a:r>
            <a:r>
              <a:rPr kumimoji="0" lang="en-US" altLang="en-US" sz="1800" b="0" i="0" u="none" strike="noStrike" cap="none" normalizeH="0" baseline="0" dirty="0" smtClean="0">
                <a:ln>
                  <a:noFill/>
                </a:ln>
                <a:solidFill>
                  <a:schemeClr val="tx1"/>
                </a:solidFill>
                <a:effectLst/>
                <a:latin typeface="Arial" panose="020B0604020202020204" pitchFamily="34" charset="0"/>
              </a:rPr>
              <a:t> – Analysis environment and documentation </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6294" y="1526424"/>
            <a:ext cx="4577174" cy="3310136"/>
          </a:xfrm>
          <a:prstGeom prst="rect">
            <a:avLst/>
          </a:prstGeom>
        </p:spPr>
      </p:pic>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3095" y="1507319"/>
            <a:ext cx="4613835" cy="3329241"/>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9118" y="1393339"/>
            <a:ext cx="5044600" cy="4065880"/>
          </a:xfrm>
          <a:prstGeom prst="rect">
            <a:avLst/>
          </a:prstGeom>
        </p:spPr>
      </p:pic>
      <p:pic>
        <p:nvPicPr>
          <p:cNvPr id="11" name="Picture 10"/>
          <p:cNvPicPr>
            <a:picLocks noChangeAspect="1"/>
          </p:cNvPicPr>
          <p:nvPr/>
        </p:nvPicPr>
        <p:blipFill rotWithShape="1">
          <a:blip r:embed="rId4">
            <a:extLst>
              <a:ext uri="{28A0092B-C50C-407E-A947-70E740481C1C}">
                <a14:useLocalDpi xmlns:a14="http://schemas.microsoft.com/office/drawing/2010/main" val="0"/>
              </a:ext>
            </a:extLst>
          </a:blip>
          <a:srcRect r="11125"/>
          <a:stretch/>
        </p:blipFill>
        <p:spPr>
          <a:xfrm>
            <a:off x="320982" y="1724777"/>
            <a:ext cx="4228693" cy="3272803"/>
          </a:xfrm>
          <a:prstGeom prst="rect">
            <a:avLst/>
          </a:prstGeom>
        </p:spPr>
      </p:pic>
    </p:spTree>
    <p:extLst>
      <p:ext uri="{BB962C8B-B14F-4D97-AF65-F5344CB8AC3E}">
        <p14:creationId xmlns:p14="http://schemas.microsoft.com/office/powerpoint/2010/main" val="2916292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xmlns="" id="{E25373E9-1A26-4A40-9897-E42DE485D8E3}"/>
              </a:ext>
            </a:extLst>
          </p:cNvPr>
          <p:cNvSpPr txBox="1">
            <a:spLocks/>
          </p:cNvSpPr>
          <p:nvPr/>
        </p:nvSpPr>
        <p:spPr>
          <a:xfrm>
            <a:off x="422959" y="5737443"/>
            <a:ext cx="8277158" cy="830997"/>
          </a:xfrm>
          <a:prstGeom prst="rect">
            <a:avLst/>
          </a:prstGeom>
        </p:spPr>
        <p:txBody>
          <a:bodyPr vert="horz" lIns="91440" tIns="45720" rIns="91440" bIns="45720" rtlCol="0" anchor="t">
            <a:normAutofit fontScale="85000" lnSpcReduction="1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rPr>
              <a:t>https://github.com/VaibhavSharma2627/Healthcare-Analytics-for-Doctor-Visits</a:t>
            </a:r>
            <a:endParaRPr lang="en-IN" b="0" u="sng" dirty="0">
              <a:solidFill>
                <a:srgbClr val="0070C0"/>
              </a:solidFill>
            </a:endParaRPr>
          </a:p>
        </p:txBody>
      </p:sp>
      <p:sp>
        <p:nvSpPr>
          <p:cNvPr id="10" name="TextBox 9"/>
          <p:cNvSpPr txBox="1"/>
          <p:nvPr/>
        </p:nvSpPr>
        <p:spPr>
          <a:xfrm>
            <a:off x="422959" y="1642369"/>
            <a:ext cx="11100257" cy="2585323"/>
          </a:xfrm>
          <a:prstGeom prst="rect">
            <a:avLst/>
          </a:prstGeom>
          <a:noFill/>
        </p:spPr>
        <p:txBody>
          <a:bodyPr wrap="square" rtlCol="0">
            <a:spAutoFit/>
          </a:bodyPr>
          <a:lstStyle/>
          <a:p>
            <a:pPr lvl="0" defTabSz="914400" eaLnBrk="0" fontAlgn="base" hangingPunct="0">
              <a:spcBef>
                <a:spcPct val="0"/>
              </a:spcBef>
              <a:spcAft>
                <a:spcPct val="0"/>
              </a:spcAft>
              <a:buFontTx/>
              <a:buChar char="•"/>
            </a:pPr>
            <a:r>
              <a:rPr lang="en-US" altLang="en-US" b="1" dirty="0">
                <a:latin typeface="Arial" panose="020B0604020202020204" pitchFamily="34" charset="0"/>
              </a:rPr>
              <a:t>Doctor visits:</a:t>
            </a:r>
            <a:r>
              <a:rPr lang="en-US" altLang="en-US" dirty="0">
                <a:latin typeface="Arial" panose="020B0604020202020204" pitchFamily="34" charset="0"/>
              </a:rPr>
              <a:t> 4,141 out of 5,190 observations recorded </a:t>
            </a:r>
            <a:r>
              <a:rPr lang="en-US" altLang="en-US" b="1" dirty="0">
                <a:latin typeface="Arial" panose="020B0604020202020204" pitchFamily="34" charset="0"/>
              </a:rPr>
              <a:t>0 doctor visits</a:t>
            </a:r>
            <a:r>
              <a:rPr lang="en-US" altLang="en-US" dirty="0">
                <a:latin typeface="Arial" panose="020B0604020202020204" pitchFamily="34" charset="0"/>
              </a:rPr>
              <a:t>, showing that visits were highly concentrated at zero. </a:t>
            </a:r>
          </a:p>
          <a:p>
            <a:pPr lvl="0" defTabSz="914400" eaLnBrk="0" fontAlgn="base" hangingPunct="0">
              <a:spcBef>
                <a:spcPct val="0"/>
              </a:spcBef>
              <a:spcAft>
                <a:spcPct val="0"/>
              </a:spcAft>
              <a:buFontTx/>
              <a:buChar char="•"/>
            </a:pPr>
            <a:r>
              <a:rPr lang="en-US" altLang="en-US" b="1" dirty="0">
                <a:latin typeface="Arial" panose="020B0604020202020204" pitchFamily="34" charset="0"/>
              </a:rPr>
              <a:t>Gender:</a:t>
            </a:r>
            <a:r>
              <a:rPr lang="en-US" altLang="en-US" dirty="0">
                <a:latin typeface="Arial" panose="020B0604020202020204" pitchFamily="34" charset="0"/>
              </a:rPr>
              <a:t> Females had a lower proportion of zero visits (</a:t>
            </a:r>
            <a:r>
              <a:rPr lang="en-US" altLang="en-US" b="1" dirty="0">
                <a:latin typeface="Arial" panose="020B0604020202020204" pitchFamily="34" charset="0"/>
              </a:rPr>
              <a:t>75.57%</a:t>
            </a:r>
            <a:r>
              <a:rPr lang="en-US" altLang="en-US" dirty="0">
                <a:latin typeface="Arial" panose="020B0604020202020204" pitchFamily="34" charset="0"/>
              </a:rPr>
              <a:t>) than males (</a:t>
            </a:r>
            <a:r>
              <a:rPr lang="en-US" altLang="en-US" b="1" dirty="0">
                <a:latin typeface="Arial" panose="020B0604020202020204" pitchFamily="34" charset="0"/>
              </a:rPr>
              <a:t>84.36%</a:t>
            </a:r>
            <a:r>
              <a:rPr lang="en-US" altLang="en-US" dirty="0">
                <a:latin typeface="Arial" panose="020B0604020202020204" pitchFamily="34" charset="0"/>
              </a:rPr>
              <a:t>). </a:t>
            </a:r>
          </a:p>
          <a:p>
            <a:pPr lvl="0" defTabSz="914400" eaLnBrk="0" fontAlgn="base" hangingPunct="0">
              <a:spcBef>
                <a:spcPct val="0"/>
              </a:spcBef>
              <a:spcAft>
                <a:spcPct val="0"/>
              </a:spcAft>
              <a:buFontTx/>
              <a:buChar char="•"/>
            </a:pPr>
            <a:r>
              <a:rPr lang="en-US" altLang="en-US" b="1" dirty="0">
                <a:latin typeface="Arial" panose="020B0604020202020204" pitchFamily="34" charset="0"/>
              </a:rPr>
              <a:t>Age:</a:t>
            </a:r>
            <a:r>
              <a:rPr lang="en-US" altLang="en-US" dirty="0">
                <a:latin typeface="Arial" panose="020B0604020202020204" pitchFamily="34" charset="0"/>
              </a:rPr>
              <a:t> The analysis did not show a clear linear relationship between age and doctor visits. </a:t>
            </a:r>
          </a:p>
          <a:p>
            <a:pPr lvl="0" defTabSz="914400" eaLnBrk="0" fontAlgn="base" hangingPunct="0">
              <a:spcBef>
                <a:spcPct val="0"/>
              </a:spcBef>
              <a:spcAft>
                <a:spcPct val="0"/>
              </a:spcAft>
              <a:buFontTx/>
              <a:buChar char="•"/>
            </a:pPr>
            <a:r>
              <a:rPr lang="en-US" altLang="en-US" b="1" dirty="0">
                <a:latin typeface="Arial" panose="020B0604020202020204" pitchFamily="34" charset="0"/>
              </a:rPr>
              <a:t>Illness:</a:t>
            </a:r>
            <a:r>
              <a:rPr lang="en-US" altLang="en-US" dirty="0">
                <a:latin typeface="Arial" panose="020B0604020202020204" pitchFamily="34" charset="0"/>
              </a:rPr>
              <a:t> Average doctor visits generally increased as the number of recorded illnesses increased, from </a:t>
            </a:r>
            <a:r>
              <a:rPr lang="en-US" altLang="en-US" b="1" dirty="0">
                <a:latin typeface="Arial" panose="020B0604020202020204" pitchFamily="34" charset="0"/>
              </a:rPr>
              <a:t>0.079 visits</a:t>
            </a:r>
            <a:r>
              <a:rPr lang="en-US" altLang="en-US" dirty="0">
                <a:latin typeface="Arial" panose="020B0604020202020204" pitchFamily="34" charset="0"/>
              </a:rPr>
              <a:t> for 0 illnesses to </a:t>
            </a:r>
            <a:r>
              <a:rPr lang="en-US" altLang="en-US" b="1" dirty="0">
                <a:latin typeface="Arial" panose="020B0604020202020204" pitchFamily="34" charset="0"/>
              </a:rPr>
              <a:t>0.814 visits</a:t>
            </a:r>
            <a:r>
              <a:rPr lang="en-US" altLang="en-US" dirty="0">
                <a:latin typeface="Arial" panose="020B0604020202020204" pitchFamily="34" charset="0"/>
              </a:rPr>
              <a:t> for 5 illnesses. </a:t>
            </a:r>
          </a:p>
          <a:p>
            <a:pPr lvl="0" defTabSz="914400" eaLnBrk="0" fontAlgn="base" hangingPunct="0">
              <a:spcBef>
                <a:spcPct val="0"/>
              </a:spcBef>
              <a:spcAft>
                <a:spcPct val="0"/>
              </a:spcAft>
              <a:buFontTx/>
              <a:buChar char="•"/>
            </a:pPr>
            <a:r>
              <a:rPr lang="en-US" altLang="en-US" b="1" dirty="0">
                <a:latin typeface="Arial" panose="020B0604020202020204" pitchFamily="34" charset="0"/>
              </a:rPr>
              <a:t>Reduced activity:</a:t>
            </a:r>
            <a:r>
              <a:rPr lang="en-US" altLang="en-US" dirty="0">
                <a:latin typeface="Arial" panose="020B0604020202020204" pitchFamily="34" charset="0"/>
              </a:rPr>
              <a:t> Days of reduced normal activity had the </a:t>
            </a:r>
            <a:r>
              <a:rPr lang="en-US" altLang="en-US" b="1" dirty="0">
                <a:latin typeface="Arial" panose="020B0604020202020204" pitchFamily="34" charset="0"/>
              </a:rPr>
              <a:t>strongest positive linear association</a:t>
            </a:r>
            <a:r>
              <a:rPr lang="en-US" altLang="en-US" dirty="0">
                <a:latin typeface="Arial" panose="020B0604020202020204" pitchFamily="34" charset="0"/>
              </a:rPr>
              <a:t> with doctor visits among the numerical variables examined (</a:t>
            </a:r>
            <a:r>
              <a:rPr lang="en-US" altLang="en-US" b="1" dirty="0">
                <a:latin typeface="Arial" panose="020B0604020202020204" pitchFamily="34" charset="0"/>
              </a:rPr>
              <a:t>r = 0.42</a:t>
            </a:r>
            <a:r>
              <a:rPr lang="en-US" altLang="en-US" dirty="0">
                <a:latin typeface="Arial" panose="020B0604020202020204" pitchFamily="34" charset="0"/>
              </a:rPr>
              <a:t>) </a:t>
            </a:r>
          </a:p>
          <a:p>
            <a:endParaRPr lang="en-IN" dirty="0"/>
          </a:p>
        </p:txBody>
      </p:sp>
    </p:spTree>
    <p:extLst>
      <p:ext uri="{BB962C8B-B14F-4D97-AF65-F5344CB8AC3E}">
        <p14:creationId xmlns:p14="http://schemas.microsoft.com/office/powerpoint/2010/main" val="4247570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smtClean="0">
                <a:solidFill>
                  <a:schemeClr val="tx1"/>
                </a:solidFill>
              </a:rPr>
              <a:t>Thank you</a:t>
            </a:r>
            <a:endParaRPr lang="en-US" sz="4800" b="1" dirty="0">
              <a:solidFill>
                <a:schemeClr val="tx1"/>
              </a:solidFill>
            </a:endParaRPr>
          </a:p>
        </p:txBody>
      </p:sp>
      <p:sp>
        <p:nvSpPr>
          <p:cNvPr id="31" name="Text Placeholder 30">
            <a:extLst>
              <a:ext uri="{FF2B5EF4-FFF2-40B4-BE49-F238E27FC236}">
                <a16:creationId xmlns:a16="http://schemas.microsoft.com/office/drawing/2014/main" xmlns=""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xmlns=""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xmlns=""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569</TotalTime>
  <Words>281</Words>
  <Application>Microsoft Office PowerPoint</Application>
  <PresentationFormat>Widescreen</PresentationFormat>
  <Paragraphs>31</Paragraphs>
  <Slides>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Trebuchet MS</vt:lpstr>
      <vt:lpstr>Wingdings</vt:lpstr>
      <vt:lpstr>Wingdings 3</vt:lpstr>
      <vt:lpstr>Facet</vt:lpstr>
      <vt:lpstr>Project Title -Healthcare Analytics for Doctor Visits </vt:lpstr>
      <vt:lpstr>PROBLEM  STATEMENT</vt:lpstr>
      <vt:lpstr>Project Description This project uses Python, Pandas, and data visualization techniques to analyze doctor visit patterns in a healthcare dataset. The analysis explores how demographic, socioeconomic, and health-related factors such as age, gender, illness, reduced activity, and health status are associated with doctor visits. The project applies exploratory and multivariate analysis to identify meaningful patterns and relationships in healthcare utilization. The findings provide a descriptive understanding of factors associated with doctor visits while recognizing that the observed relationships do not establish causation. </vt:lpstr>
      <vt:lpstr>WHO ARE THE END USERS?</vt:lpstr>
      <vt:lpstr>Technology Used</vt:lpstr>
      <vt:lpstr>RESULTS </vt:lpstr>
      <vt:lpstr>RESULTS </vt:lpstr>
      <vt:lpstr>RESULTS </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Microsoft account</cp:lastModifiedBy>
  <cp:revision>76</cp:revision>
  <dcterms:created xsi:type="dcterms:W3CDTF">2021-07-11T13:13:15Z</dcterms:created>
  <dcterms:modified xsi:type="dcterms:W3CDTF">2026-09-22T20:36:06Z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